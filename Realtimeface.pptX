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85" r:id="rId1"/>
  </p:sldMasterIdLst>
  <p:sldIdLst>
    <p:sldId id="256" r:id="rId2"/>
    <p:sldId id="257" r:id="rId3"/>
    <p:sldId id="258" r:id="rId4"/>
    <p:sldId id="259" r:id="rId5"/>
    <p:sldId id="260" r:id="rId6"/>
    <p:sldId id="261" r:id="rId7"/>
    <p:sldId id="262" r:id="rId8"/>
    <p:sldId id="265" r:id="rId9"/>
    <p:sldId id="264" r:id="rId10"/>
    <p:sldId id="263"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smtClean="0"/>
              <a:t>8/7/2025</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0398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0612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smtClean="0"/>
              <a:t>8/7/2025</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07012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8/7/2025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29290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8/7/2025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51454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8/7/2025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26135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8/7/2025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34960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05484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94189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96336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smtClean="0"/>
              <a:pPr/>
              <a:t>8/7/2025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54807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smtClean="0"/>
              <a:pPr/>
              <a:t>8/7/2025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pPr/>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724654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smtClean="0"/>
              <a:pPr/>
              <a:t>8/7/2025</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777405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8/7/2025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268816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8/7/2025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127444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1700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smtClean="0"/>
              <a:t>8/7/2025</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193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8/7/2025</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31173682"/>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1" r:id="rId6"/>
    <p:sldLayoutId id="2147483892" r:id="rId7"/>
    <p:sldLayoutId id="2147483893" r:id="rId8"/>
    <p:sldLayoutId id="2147483894" r:id="rId9"/>
    <p:sldLayoutId id="2147483895" r:id="rId10"/>
    <p:sldLayoutId id="2147483896" r:id="rId11"/>
    <p:sldLayoutId id="2147483897" r:id="rId12"/>
    <p:sldLayoutId id="2147483898" r:id="rId13"/>
    <p:sldLayoutId id="2147483899" r:id="rId14"/>
    <p:sldLayoutId id="2147483900" r:id="rId15"/>
    <p:sldLayoutId id="2147483901" r:id="rId16"/>
    <p:sldLayoutId id="2147483902"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87777-9B5F-EE95-F880-A3D9FE0B2DD4}"/>
              </a:ext>
            </a:extLst>
          </p:cNvPr>
          <p:cNvSpPr>
            <a:spLocks noGrp="1"/>
          </p:cNvSpPr>
          <p:nvPr>
            <p:ph type="ctrTitle"/>
          </p:nvPr>
        </p:nvSpPr>
        <p:spPr>
          <a:xfrm>
            <a:off x="4008698" y="997353"/>
            <a:ext cx="7197726" cy="2421464"/>
          </a:xfrm>
        </p:spPr>
        <p:txBody>
          <a:bodyPr>
            <a:normAutofit fontScale="90000"/>
          </a:bodyPr>
          <a:lstStyle/>
          <a:p>
            <a:r>
              <a:rPr lang="en-IN" dirty="0"/>
              <a:t>Real time face</a:t>
            </a:r>
            <a:br>
              <a:rPr lang="en-IN" dirty="0"/>
            </a:br>
            <a:r>
              <a:rPr lang="en-IN" dirty="0"/>
              <a:t> mask detection</a:t>
            </a:r>
            <a:br>
              <a:rPr lang="en-IN" dirty="0"/>
            </a:br>
            <a:r>
              <a:rPr lang="en-IN" dirty="0"/>
              <a:t>       </a:t>
            </a:r>
            <a:r>
              <a:rPr lang="en-IN" sz="3100" dirty="0"/>
              <a:t>- dr. </a:t>
            </a:r>
            <a:r>
              <a:rPr lang="en-IN" sz="3100" dirty="0" err="1"/>
              <a:t>ranjeet</a:t>
            </a:r>
            <a:r>
              <a:rPr lang="en-IN" sz="3100" dirty="0"/>
              <a:t> </a:t>
            </a:r>
            <a:r>
              <a:rPr lang="en-IN" sz="3100" dirty="0" err="1"/>
              <a:t>kumar</a:t>
            </a:r>
            <a:r>
              <a:rPr lang="en-IN" sz="3100" dirty="0"/>
              <a:t> </a:t>
            </a:r>
            <a:r>
              <a:rPr lang="en-IN" sz="3100" dirty="0" err="1"/>
              <a:t>ranjan</a:t>
            </a:r>
            <a:endParaRPr lang="en-IN" sz="3100" dirty="0"/>
          </a:p>
        </p:txBody>
      </p:sp>
      <p:sp>
        <p:nvSpPr>
          <p:cNvPr id="3" name="Subtitle 2">
            <a:extLst>
              <a:ext uri="{FF2B5EF4-FFF2-40B4-BE49-F238E27FC236}">
                <a16:creationId xmlns:a16="http://schemas.microsoft.com/office/drawing/2014/main" id="{CBF047B7-5F28-F3BD-E8DB-D19B2C490833}"/>
              </a:ext>
            </a:extLst>
          </p:cNvPr>
          <p:cNvSpPr>
            <a:spLocks noGrp="1"/>
          </p:cNvSpPr>
          <p:nvPr>
            <p:ph type="subTitle" idx="1"/>
          </p:nvPr>
        </p:nvSpPr>
        <p:spPr>
          <a:xfrm>
            <a:off x="4008698" y="3683000"/>
            <a:ext cx="7369216" cy="2177647"/>
          </a:xfrm>
        </p:spPr>
        <p:txBody>
          <a:bodyPr>
            <a:normAutofit/>
          </a:bodyPr>
          <a:lstStyle/>
          <a:p>
            <a:r>
              <a:rPr lang="en-IN" dirty="0"/>
              <a:t>1.Rohit </a:t>
            </a:r>
            <a:r>
              <a:rPr lang="en-IN" dirty="0" err="1"/>
              <a:t>reddy</a:t>
            </a:r>
            <a:r>
              <a:rPr lang="en-IN" dirty="0"/>
              <a:t> (23bcs205)</a:t>
            </a:r>
          </a:p>
          <a:p>
            <a:r>
              <a:rPr lang="en-IN" dirty="0"/>
              <a:t>2.Raj </a:t>
            </a:r>
            <a:r>
              <a:rPr lang="en-IN" dirty="0" err="1"/>
              <a:t>harsha</a:t>
            </a:r>
            <a:r>
              <a:rPr lang="en-IN" dirty="0"/>
              <a:t> (23bcs234)</a:t>
            </a:r>
          </a:p>
          <a:p>
            <a:r>
              <a:rPr lang="en-IN" dirty="0"/>
              <a:t>3.Sai </a:t>
            </a:r>
            <a:r>
              <a:rPr lang="en-IN" dirty="0" err="1"/>
              <a:t>sangeeth</a:t>
            </a:r>
            <a:r>
              <a:rPr lang="en-IN" dirty="0"/>
              <a:t> (23bcs177)</a:t>
            </a:r>
          </a:p>
          <a:p>
            <a:r>
              <a:rPr lang="en-IN" dirty="0"/>
              <a:t>4.Sharvaani (23bcs230)</a:t>
            </a:r>
          </a:p>
          <a:p>
            <a:r>
              <a:rPr lang="en-IN" dirty="0"/>
              <a:t>5.Vyshnavi (23bcs156)</a:t>
            </a:r>
          </a:p>
          <a:p>
            <a:endParaRPr lang="en-IN" dirty="0"/>
          </a:p>
        </p:txBody>
      </p:sp>
    </p:spTree>
    <p:extLst>
      <p:ext uri="{BB962C8B-B14F-4D97-AF65-F5344CB8AC3E}">
        <p14:creationId xmlns:p14="http://schemas.microsoft.com/office/powerpoint/2010/main" val="27422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75792-99AF-5529-3485-9247B55AACB9}"/>
              </a:ext>
            </a:extLst>
          </p:cNvPr>
          <p:cNvSpPr>
            <a:spLocks noGrp="1"/>
          </p:cNvSpPr>
          <p:nvPr>
            <p:ph type="title"/>
          </p:nvPr>
        </p:nvSpPr>
        <p:spPr>
          <a:xfrm>
            <a:off x="1341211" y="707651"/>
            <a:ext cx="9905998" cy="1478570"/>
          </a:xfrm>
        </p:spPr>
        <p:txBody>
          <a:bodyPr/>
          <a:lstStyle/>
          <a:p>
            <a:r>
              <a:rPr lang="en-IN" dirty="0"/>
              <a:t>about</a:t>
            </a:r>
          </a:p>
        </p:txBody>
      </p:sp>
      <p:sp>
        <p:nvSpPr>
          <p:cNvPr id="3" name="Content Placeholder 2">
            <a:extLst>
              <a:ext uri="{FF2B5EF4-FFF2-40B4-BE49-F238E27FC236}">
                <a16:creationId xmlns:a16="http://schemas.microsoft.com/office/drawing/2014/main" id="{0B4BC016-000F-066D-B282-E518B555C0E7}"/>
              </a:ext>
            </a:extLst>
          </p:cNvPr>
          <p:cNvSpPr>
            <a:spLocks noGrp="1"/>
          </p:cNvSpPr>
          <p:nvPr>
            <p:ph idx="1"/>
          </p:nvPr>
        </p:nvSpPr>
        <p:spPr/>
        <p:txBody>
          <a:bodyPr>
            <a:normAutofit/>
          </a:bodyPr>
          <a:lstStyle/>
          <a:p>
            <a:r>
              <a:rPr lang="en-US" sz="2800" dirty="0"/>
              <a:t>1. Introduction : </a:t>
            </a:r>
            <a:r>
              <a:rPr lang="en-US" sz="2800" dirty="0" err="1"/>
              <a:t>CamMask</a:t>
            </a:r>
            <a:r>
              <a:rPr lang="en-US" sz="2800" dirty="0"/>
              <a:t> AI is a real-time face mask detection system developed using the YOLOv8s model from </a:t>
            </a:r>
            <a:r>
              <a:rPr lang="en-US" sz="2800" dirty="0" err="1"/>
              <a:t>Ultralytics</a:t>
            </a:r>
            <a:r>
              <a:rPr lang="en-US" sz="2800" dirty="0"/>
              <a:t>. It classifies individuals into five categories based on mask usage, aiming to help enforce mask-wearing in public areas.</a:t>
            </a:r>
          </a:p>
          <a:p>
            <a:r>
              <a:rPr lang="en-US" sz="2800" dirty="0"/>
              <a:t>2. Problem Statement : Due to the COVID-19 pandemic and similar future events, it is essential to identify whether individuals are properly wearing face masks. Traditional surveillance requires manual monitoring, which is inefficient. This project automates this process using deep learning.</a:t>
            </a:r>
            <a:endParaRPr lang="en-IN" sz="2800" dirty="0"/>
          </a:p>
        </p:txBody>
      </p:sp>
    </p:spTree>
    <p:extLst>
      <p:ext uri="{BB962C8B-B14F-4D97-AF65-F5344CB8AC3E}">
        <p14:creationId xmlns:p14="http://schemas.microsoft.com/office/powerpoint/2010/main" val="3719033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E47B9-1274-38F6-63F0-941C05A9DCC3}"/>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0014C90D-451D-26CD-1D4F-04D86170C650}"/>
              </a:ext>
            </a:extLst>
          </p:cNvPr>
          <p:cNvSpPr>
            <a:spLocks noGrp="1"/>
          </p:cNvSpPr>
          <p:nvPr>
            <p:ph idx="1"/>
          </p:nvPr>
        </p:nvSpPr>
        <p:spPr>
          <a:xfrm>
            <a:off x="1015577" y="1954635"/>
            <a:ext cx="9905999" cy="3517784"/>
          </a:xfrm>
        </p:spPr>
        <p:txBody>
          <a:bodyPr/>
          <a:lstStyle/>
          <a:p>
            <a:pPr marL="0" indent="0">
              <a:buNone/>
            </a:pPr>
            <a:endParaRPr lang="en-US" dirty="0"/>
          </a:p>
          <a:p>
            <a:endParaRPr lang="en-US" dirty="0"/>
          </a:p>
        </p:txBody>
      </p:sp>
      <p:sp>
        <p:nvSpPr>
          <p:cNvPr id="5" name="Rectangle 2">
            <a:extLst>
              <a:ext uri="{FF2B5EF4-FFF2-40B4-BE49-F238E27FC236}">
                <a16:creationId xmlns:a16="http://schemas.microsoft.com/office/drawing/2014/main" id="{C139D673-46E5-0ED3-22FB-FA939F31DE38}"/>
              </a:ext>
            </a:extLst>
          </p:cNvPr>
          <p:cNvSpPr>
            <a:spLocks noChangeArrowheads="1"/>
          </p:cNvSpPr>
          <p:nvPr/>
        </p:nvSpPr>
        <p:spPr bwMode="auto">
          <a:xfrm>
            <a:off x="869516" y="2186524"/>
            <a:ext cx="108204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Detect and classify 5 face-mask-related classes</a:t>
            </a:r>
            <a:r>
              <a:rPr kumimoji="0" lang="en-US" altLang="en-US" sz="2400" b="0" i="0" u="none" strike="noStrike" cap="none" normalizeH="0" baseline="0" dirty="0">
                <a:ln>
                  <a:noFill/>
                </a:ln>
                <a:solidFill>
                  <a:schemeClr val="tx1"/>
                </a:solidFill>
                <a:effectLst/>
                <a:latin typeface="Arial" panose="020B0604020202020204" pitchFamily="34" charset="0"/>
              </a:rPr>
              <a:t> in real time: Mask Worn Properly, No Mask, Nose Visible, Mouth Visible, and Remove Hand.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Use live webcam feed or static image input</a:t>
            </a:r>
            <a:r>
              <a:rPr kumimoji="0" lang="en-US" altLang="en-US" sz="2400" b="0" i="0" u="none" strike="noStrike" cap="none" normalizeH="0" baseline="0" dirty="0">
                <a:ln>
                  <a:noFill/>
                </a:ln>
                <a:solidFill>
                  <a:schemeClr val="tx1"/>
                </a:solidFill>
                <a:effectLst/>
                <a:latin typeface="Arial" panose="020B0604020202020204" pitchFamily="34" charset="0"/>
              </a:rPr>
              <a:t> for flexible detection options.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Achieve high detection accuracy</a:t>
            </a:r>
            <a:r>
              <a:rPr kumimoji="0" lang="en-US" altLang="en-US" sz="2400" b="0" i="0" u="none" strike="noStrike" cap="none" normalizeH="0" baseline="0" dirty="0">
                <a:ln>
                  <a:noFill/>
                </a:ln>
                <a:solidFill>
                  <a:schemeClr val="tx1"/>
                </a:solidFill>
                <a:effectLst/>
                <a:latin typeface="Arial" panose="020B0604020202020204" pitchFamily="34" charset="0"/>
              </a:rPr>
              <a:t> (mAP50 of 0.9798) and robust classification across varied face positions.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Ensure fast and lightweight inference</a:t>
            </a:r>
            <a:r>
              <a:rPr kumimoji="0" lang="en-US" altLang="en-US" sz="2400" b="0" i="0" u="none" strike="noStrike" cap="none" normalizeH="0" baseline="0" dirty="0">
                <a:ln>
                  <a:noFill/>
                </a:ln>
                <a:solidFill>
                  <a:schemeClr val="tx1"/>
                </a:solidFill>
                <a:effectLst/>
                <a:latin typeface="Arial" panose="020B0604020202020204" pitchFamily="34" charset="0"/>
              </a:rPr>
              <a:t> using YOLOv8 for real-time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Enable reliable multi-face detection</a:t>
            </a:r>
            <a:r>
              <a:rPr kumimoji="0" lang="en-US" altLang="en-US" sz="2400" b="0" i="0" u="none" strike="noStrike" cap="none" normalizeH="0" baseline="0" dirty="0">
                <a:ln>
                  <a:noFill/>
                </a:ln>
                <a:solidFill>
                  <a:schemeClr val="tx1"/>
                </a:solidFill>
                <a:effectLst/>
                <a:latin typeface="Arial" panose="020B0604020202020204" pitchFamily="34" charset="0"/>
              </a:rPr>
              <a:t> under different lighting and background conditions.</a:t>
            </a:r>
          </a:p>
        </p:txBody>
      </p:sp>
    </p:spTree>
    <p:extLst>
      <p:ext uri="{BB962C8B-B14F-4D97-AF65-F5344CB8AC3E}">
        <p14:creationId xmlns:p14="http://schemas.microsoft.com/office/powerpoint/2010/main" val="620532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0936F-DFEE-6A0F-E23A-96D9CE3BA11E}"/>
              </a:ext>
            </a:extLst>
          </p:cNvPr>
          <p:cNvSpPr>
            <a:spLocks noGrp="1"/>
          </p:cNvSpPr>
          <p:nvPr>
            <p:ph type="title"/>
          </p:nvPr>
        </p:nvSpPr>
        <p:spPr>
          <a:xfrm>
            <a:off x="1141413" y="406866"/>
            <a:ext cx="9905998" cy="1478570"/>
          </a:xfrm>
        </p:spPr>
        <p:txBody>
          <a:bodyPr/>
          <a:lstStyle/>
          <a:p>
            <a:r>
              <a:rPr lang="en-IN" dirty="0"/>
              <a:t>Model architecture</a:t>
            </a:r>
          </a:p>
        </p:txBody>
      </p:sp>
      <p:pic>
        <p:nvPicPr>
          <p:cNvPr id="7" name="Content Placeholder 6">
            <a:extLst>
              <a:ext uri="{FF2B5EF4-FFF2-40B4-BE49-F238E27FC236}">
                <a16:creationId xmlns:a16="http://schemas.microsoft.com/office/drawing/2014/main" id="{C7DA44D9-D3CD-5019-2590-3A96C326DEF5}"/>
              </a:ext>
            </a:extLst>
          </p:cNvPr>
          <p:cNvPicPr>
            <a:picLocks noGrp="1" noChangeAspect="1"/>
          </p:cNvPicPr>
          <p:nvPr>
            <p:ph idx="1"/>
          </p:nvPr>
        </p:nvPicPr>
        <p:blipFill>
          <a:blip r:embed="rId2"/>
          <a:stretch>
            <a:fillRect/>
          </a:stretch>
        </p:blipFill>
        <p:spPr>
          <a:xfrm>
            <a:off x="2858947" y="1705848"/>
            <a:ext cx="7315200" cy="4745286"/>
          </a:xfrm>
        </p:spPr>
      </p:pic>
    </p:spTree>
    <p:extLst>
      <p:ext uri="{BB962C8B-B14F-4D97-AF65-F5344CB8AC3E}">
        <p14:creationId xmlns:p14="http://schemas.microsoft.com/office/powerpoint/2010/main" val="131965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75CB4-706A-CF01-19EE-5AF13A770FBC}"/>
              </a:ext>
            </a:extLst>
          </p:cNvPr>
          <p:cNvSpPr>
            <a:spLocks noGrp="1"/>
          </p:cNvSpPr>
          <p:nvPr>
            <p:ph type="title"/>
          </p:nvPr>
        </p:nvSpPr>
        <p:spPr>
          <a:xfrm>
            <a:off x="1911752" y="618519"/>
            <a:ext cx="8610600" cy="1293028"/>
          </a:xfrm>
        </p:spPr>
        <p:txBody>
          <a:bodyPr/>
          <a:lstStyle/>
          <a:p>
            <a:endParaRPr lang="en-IN" dirty="0"/>
          </a:p>
        </p:txBody>
      </p:sp>
      <p:pic>
        <p:nvPicPr>
          <p:cNvPr id="5" name="Content Placeholder 4">
            <a:extLst>
              <a:ext uri="{FF2B5EF4-FFF2-40B4-BE49-F238E27FC236}">
                <a16:creationId xmlns:a16="http://schemas.microsoft.com/office/drawing/2014/main" id="{09729DB6-71CC-7C69-032A-84A4BA265DFC}"/>
              </a:ext>
            </a:extLst>
          </p:cNvPr>
          <p:cNvPicPr>
            <a:picLocks noGrp="1" noChangeAspect="1"/>
          </p:cNvPicPr>
          <p:nvPr>
            <p:ph idx="1"/>
          </p:nvPr>
        </p:nvPicPr>
        <p:blipFill>
          <a:blip r:embed="rId2"/>
          <a:stretch>
            <a:fillRect/>
          </a:stretch>
        </p:blipFill>
        <p:spPr>
          <a:xfrm>
            <a:off x="1025300" y="1043136"/>
            <a:ext cx="10141400" cy="5740336"/>
          </a:xfrm>
        </p:spPr>
      </p:pic>
    </p:spTree>
    <p:extLst>
      <p:ext uri="{BB962C8B-B14F-4D97-AF65-F5344CB8AC3E}">
        <p14:creationId xmlns:p14="http://schemas.microsoft.com/office/powerpoint/2010/main" val="4166447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04073-AAEC-96FC-4F5C-4C5DCDF0978A}"/>
              </a:ext>
            </a:extLst>
          </p:cNvPr>
          <p:cNvSpPr>
            <a:spLocks noGrp="1"/>
          </p:cNvSpPr>
          <p:nvPr>
            <p:ph type="title"/>
          </p:nvPr>
        </p:nvSpPr>
        <p:spPr>
          <a:xfrm>
            <a:off x="813122" y="771645"/>
            <a:ext cx="10131425" cy="1456267"/>
          </a:xfrm>
        </p:spPr>
        <p:txBody>
          <a:bodyPr/>
          <a:lstStyle/>
          <a:p>
            <a:r>
              <a:rPr lang="en-IN" dirty="0"/>
              <a:t>Dataset</a:t>
            </a:r>
          </a:p>
        </p:txBody>
      </p:sp>
      <p:sp>
        <p:nvSpPr>
          <p:cNvPr id="3" name="Content Placeholder 2">
            <a:extLst>
              <a:ext uri="{FF2B5EF4-FFF2-40B4-BE49-F238E27FC236}">
                <a16:creationId xmlns:a16="http://schemas.microsoft.com/office/drawing/2014/main" id="{9AEE68C3-7D70-23C7-3260-C1732752569E}"/>
              </a:ext>
            </a:extLst>
          </p:cNvPr>
          <p:cNvSpPr>
            <a:spLocks noGrp="1"/>
          </p:cNvSpPr>
          <p:nvPr>
            <p:ph idx="1"/>
          </p:nvPr>
        </p:nvSpPr>
        <p:spPr/>
        <p:txBody>
          <a:bodyPr>
            <a:normAutofit/>
          </a:bodyPr>
          <a:lstStyle/>
          <a:p>
            <a:r>
              <a:rPr lang="en-US" dirty="0"/>
              <a:t> </a:t>
            </a:r>
            <a:r>
              <a:rPr lang="en-US" sz="2400" dirty="0"/>
              <a:t>TRAIN SET:  Class 0: 6389 images  Class 1: 6759 images  Class 2: 6945 images  Class 3: 6855 images  Class 4: 4606 images</a:t>
            </a:r>
          </a:p>
          <a:p>
            <a:r>
              <a:rPr lang="en-US" sz="2400" dirty="0"/>
              <a:t>VAL SET:  Class 0: 1755 images  Class 1: 1977 images  Class 2: 1963 images  Class 3: 2004 images  Class 4: 658 images</a:t>
            </a:r>
          </a:p>
          <a:p>
            <a:r>
              <a:rPr lang="en-US" sz="2400" dirty="0"/>
              <a:t> TEST SET:  Class 0: 900 images  Class 1: 953 images  Class 2: 975 images  Class 3: 1023 images  Class 4: 1323 images</a:t>
            </a:r>
          </a:p>
          <a:p>
            <a:r>
              <a:rPr lang="en-US" sz="2400" dirty="0"/>
              <a:t>OVERALL TOTAL:  Class 0: 9044 images  Class 1: 9689 images  Class 2: 9883 images  Class 3: 9882 images  Class 4: 6587 images</a:t>
            </a:r>
            <a:endParaRPr lang="en-IN" sz="2400" dirty="0"/>
          </a:p>
        </p:txBody>
      </p:sp>
    </p:spTree>
    <p:extLst>
      <p:ext uri="{BB962C8B-B14F-4D97-AF65-F5344CB8AC3E}">
        <p14:creationId xmlns:p14="http://schemas.microsoft.com/office/powerpoint/2010/main" val="797085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218B5-7D7D-5FAF-F544-FE42D0C19B12}"/>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752ADF61-94E9-8676-80DB-EBD19E3C58EB}"/>
              </a:ext>
            </a:extLst>
          </p:cNvPr>
          <p:cNvPicPr>
            <a:picLocks noGrp="1" noChangeAspect="1"/>
          </p:cNvPicPr>
          <p:nvPr>
            <p:ph idx="1"/>
          </p:nvPr>
        </p:nvPicPr>
        <p:blipFill>
          <a:blip r:embed="rId2"/>
          <a:stretch>
            <a:fillRect/>
          </a:stretch>
        </p:blipFill>
        <p:spPr>
          <a:xfrm>
            <a:off x="1141413" y="618519"/>
            <a:ext cx="9905998" cy="5815838"/>
          </a:xfrm>
        </p:spPr>
      </p:pic>
    </p:spTree>
    <p:extLst>
      <p:ext uri="{BB962C8B-B14F-4D97-AF65-F5344CB8AC3E}">
        <p14:creationId xmlns:p14="http://schemas.microsoft.com/office/powerpoint/2010/main" val="3666669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F728-4557-8D8F-039D-BF9D7F047EF7}"/>
              </a:ext>
            </a:extLst>
          </p:cNvPr>
          <p:cNvSpPr>
            <a:spLocks noGrp="1"/>
          </p:cNvSpPr>
          <p:nvPr>
            <p:ph type="title"/>
          </p:nvPr>
        </p:nvSpPr>
        <p:spPr>
          <a:xfrm flipH="1">
            <a:off x="474562" y="-3172576"/>
            <a:ext cx="15035514" cy="2658193"/>
          </a:xfrm>
        </p:spPr>
        <p:txBody>
          <a:bodyPr>
            <a:normAutofit/>
          </a:bodyPr>
          <a:lstStyle/>
          <a:p>
            <a:endParaRPr lang="en-IN" dirty="0"/>
          </a:p>
        </p:txBody>
      </p:sp>
      <p:pic>
        <p:nvPicPr>
          <p:cNvPr id="5" name="Content Placeholder 4">
            <a:extLst>
              <a:ext uri="{FF2B5EF4-FFF2-40B4-BE49-F238E27FC236}">
                <a16:creationId xmlns:a16="http://schemas.microsoft.com/office/drawing/2014/main" id="{A0EE769B-E02A-CC63-0EAA-7C121AC3C015}"/>
              </a:ext>
            </a:extLst>
          </p:cNvPr>
          <p:cNvPicPr>
            <a:picLocks noGrp="1" noChangeAspect="1"/>
          </p:cNvPicPr>
          <p:nvPr>
            <p:ph idx="1"/>
          </p:nvPr>
        </p:nvPicPr>
        <p:blipFill>
          <a:blip r:embed="rId2"/>
          <a:stretch>
            <a:fillRect/>
          </a:stretch>
        </p:blipFill>
        <p:spPr>
          <a:xfrm>
            <a:off x="1421408" y="596856"/>
            <a:ext cx="3110672" cy="2484625"/>
          </a:xfrm>
        </p:spPr>
      </p:pic>
      <p:pic>
        <p:nvPicPr>
          <p:cNvPr id="7" name="Picture 6">
            <a:extLst>
              <a:ext uri="{FF2B5EF4-FFF2-40B4-BE49-F238E27FC236}">
                <a16:creationId xmlns:a16="http://schemas.microsoft.com/office/drawing/2014/main" id="{3B6864A6-F2E2-E65E-AB96-C555B4602113}"/>
              </a:ext>
            </a:extLst>
          </p:cNvPr>
          <p:cNvPicPr>
            <a:picLocks noChangeAspect="1"/>
          </p:cNvPicPr>
          <p:nvPr/>
        </p:nvPicPr>
        <p:blipFill>
          <a:blip r:embed="rId3"/>
          <a:stretch>
            <a:fillRect/>
          </a:stretch>
        </p:blipFill>
        <p:spPr>
          <a:xfrm>
            <a:off x="4747215" y="596856"/>
            <a:ext cx="3142204" cy="2484625"/>
          </a:xfrm>
          <a:prstGeom prst="rect">
            <a:avLst/>
          </a:prstGeom>
        </p:spPr>
      </p:pic>
      <p:pic>
        <p:nvPicPr>
          <p:cNvPr id="9" name="Picture 8">
            <a:extLst>
              <a:ext uri="{FF2B5EF4-FFF2-40B4-BE49-F238E27FC236}">
                <a16:creationId xmlns:a16="http://schemas.microsoft.com/office/drawing/2014/main" id="{F7E2707B-50D6-8FB1-F714-CD0C3F529A6F}"/>
              </a:ext>
            </a:extLst>
          </p:cNvPr>
          <p:cNvPicPr>
            <a:picLocks noChangeAspect="1"/>
          </p:cNvPicPr>
          <p:nvPr/>
        </p:nvPicPr>
        <p:blipFill>
          <a:blip r:embed="rId4"/>
          <a:stretch>
            <a:fillRect/>
          </a:stretch>
        </p:blipFill>
        <p:spPr>
          <a:xfrm>
            <a:off x="8104554" y="596856"/>
            <a:ext cx="3128210" cy="2484625"/>
          </a:xfrm>
          <a:prstGeom prst="rect">
            <a:avLst/>
          </a:prstGeom>
        </p:spPr>
      </p:pic>
      <p:pic>
        <p:nvPicPr>
          <p:cNvPr id="11" name="Picture 10">
            <a:extLst>
              <a:ext uri="{FF2B5EF4-FFF2-40B4-BE49-F238E27FC236}">
                <a16:creationId xmlns:a16="http://schemas.microsoft.com/office/drawing/2014/main" id="{161F75B4-1E38-9A0C-182C-8C3F2B421608}"/>
              </a:ext>
            </a:extLst>
          </p:cNvPr>
          <p:cNvPicPr>
            <a:picLocks noChangeAspect="1"/>
          </p:cNvPicPr>
          <p:nvPr/>
        </p:nvPicPr>
        <p:blipFill>
          <a:blip r:embed="rId5"/>
          <a:stretch>
            <a:fillRect/>
          </a:stretch>
        </p:blipFill>
        <p:spPr>
          <a:xfrm>
            <a:off x="2247634" y="3678337"/>
            <a:ext cx="3367044" cy="2658193"/>
          </a:xfrm>
          <a:prstGeom prst="rect">
            <a:avLst/>
          </a:prstGeom>
        </p:spPr>
      </p:pic>
      <p:pic>
        <p:nvPicPr>
          <p:cNvPr id="13" name="Picture 12">
            <a:extLst>
              <a:ext uri="{FF2B5EF4-FFF2-40B4-BE49-F238E27FC236}">
                <a16:creationId xmlns:a16="http://schemas.microsoft.com/office/drawing/2014/main" id="{38709F01-5F41-A98C-C802-96B467B2EC28}"/>
              </a:ext>
            </a:extLst>
          </p:cNvPr>
          <p:cNvPicPr>
            <a:picLocks noChangeAspect="1"/>
          </p:cNvPicPr>
          <p:nvPr/>
        </p:nvPicPr>
        <p:blipFill>
          <a:blip r:embed="rId6"/>
          <a:stretch>
            <a:fillRect/>
          </a:stretch>
        </p:blipFill>
        <p:spPr>
          <a:xfrm>
            <a:off x="6982438" y="3678337"/>
            <a:ext cx="3354188" cy="2658193"/>
          </a:xfrm>
          <a:prstGeom prst="rect">
            <a:avLst/>
          </a:prstGeom>
        </p:spPr>
      </p:pic>
    </p:spTree>
    <p:extLst>
      <p:ext uri="{BB962C8B-B14F-4D97-AF65-F5344CB8AC3E}">
        <p14:creationId xmlns:p14="http://schemas.microsoft.com/office/powerpoint/2010/main" val="1892931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4A2B1-A7C7-7921-9FD3-F98C81F80923}"/>
              </a:ext>
            </a:extLst>
          </p:cNvPr>
          <p:cNvSpPr>
            <a:spLocks noGrp="1"/>
          </p:cNvSpPr>
          <p:nvPr>
            <p:ph type="title"/>
          </p:nvPr>
        </p:nvSpPr>
        <p:spPr>
          <a:xfrm>
            <a:off x="3959531" y="313535"/>
            <a:ext cx="7507287" cy="1478570"/>
          </a:xfrm>
        </p:spPr>
        <p:txBody>
          <a:bodyPr/>
          <a:lstStyle/>
          <a:p>
            <a:r>
              <a:rPr lang="en-US" dirty="0"/>
              <a:t>Loss and Accuracy over Epochs</a:t>
            </a:r>
            <a:endParaRPr lang="en-IN" dirty="0"/>
          </a:p>
        </p:txBody>
      </p:sp>
      <p:pic>
        <p:nvPicPr>
          <p:cNvPr id="5" name="Content Placeholder 4">
            <a:extLst>
              <a:ext uri="{FF2B5EF4-FFF2-40B4-BE49-F238E27FC236}">
                <a16:creationId xmlns:a16="http://schemas.microsoft.com/office/drawing/2014/main" id="{F91472DA-B040-6921-61CE-F2ECA4C8F74D}"/>
              </a:ext>
            </a:extLst>
          </p:cNvPr>
          <p:cNvPicPr>
            <a:picLocks noGrp="1" noChangeAspect="1"/>
          </p:cNvPicPr>
          <p:nvPr>
            <p:ph idx="1"/>
          </p:nvPr>
        </p:nvPicPr>
        <p:blipFill>
          <a:blip r:embed="rId2"/>
          <a:stretch>
            <a:fillRect/>
          </a:stretch>
        </p:blipFill>
        <p:spPr>
          <a:xfrm>
            <a:off x="1435261" y="1889760"/>
            <a:ext cx="9155574" cy="3915420"/>
          </a:xfrm>
        </p:spPr>
      </p:pic>
    </p:spTree>
    <p:extLst>
      <p:ext uri="{BB962C8B-B14F-4D97-AF65-F5344CB8AC3E}">
        <p14:creationId xmlns:p14="http://schemas.microsoft.com/office/powerpoint/2010/main" val="905028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B504B-531E-7C71-1B20-F4ABFA98FF0E}"/>
              </a:ext>
            </a:extLst>
          </p:cNvPr>
          <p:cNvSpPr>
            <a:spLocks noGrp="1"/>
          </p:cNvSpPr>
          <p:nvPr>
            <p:ph type="title"/>
          </p:nvPr>
        </p:nvSpPr>
        <p:spPr/>
        <p:txBody>
          <a:bodyPr/>
          <a:lstStyle/>
          <a:p>
            <a:r>
              <a:rPr lang="en-IN" dirty="0"/>
              <a:t>Performance metrics</a:t>
            </a:r>
          </a:p>
        </p:txBody>
      </p:sp>
      <p:sp>
        <p:nvSpPr>
          <p:cNvPr id="3" name="Content Placeholder 2">
            <a:extLst>
              <a:ext uri="{FF2B5EF4-FFF2-40B4-BE49-F238E27FC236}">
                <a16:creationId xmlns:a16="http://schemas.microsoft.com/office/drawing/2014/main" id="{536233CC-5E03-E828-A48A-F46A81E183DD}"/>
              </a:ext>
            </a:extLst>
          </p:cNvPr>
          <p:cNvSpPr>
            <a:spLocks noGrp="1"/>
          </p:cNvSpPr>
          <p:nvPr>
            <p:ph idx="1"/>
          </p:nvPr>
        </p:nvSpPr>
        <p:spPr>
          <a:xfrm>
            <a:off x="755249" y="2368294"/>
            <a:ext cx="10131425" cy="3725333"/>
          </a:xfrm>
        </p:spPr>
        <p:txBody>
          <a:bodyPr>
            <a:normAutofit/>
          </a:bodyPr>
          <a:lstStyle/>
          <a:p>
            <a:r>
              <a:rPr lang="en-US" sz="2800" dirty="0"/>
              <a:t>mAP@0.5: 0.9798 → Mean Average Precision (</a:t>
            </a:r>
            <a:r>
              <a:rPr lang="en-US" sz="2800" dirty="0" err="1"/>
              <a:t>IoU</a:t>
            </a:r>
            <a:r>
              <a:rPr lang="en-US" sz="2800" dirty="0"/>
              <a:t> ≥ 0.5) — commonly used as accuracy proxy </a:t>
            </a:r>
          </a:p>
          <a:p>
            <a:r>
              <a:rPr lang="en-US" sz="2800" dirty="0"/>
              <a:t>Precision: 97.11% → High accuracy in positive predictions.</a:t>
            </a:r>
          </a:p>
          <a:p>
            <a:r>
              <a:rPr lang="en-US" sz="2800" dirty="0"/>
              <a:t>Recall: 95.94% → High ability to detect actual positives.</a:t>
            </a:r>
          </a:p>
          <a:p>
            <a:r>
              <a:rPr lang="en-IN" sz="2800" dirty="0"/>
              <a:t>F1 Score ≈ 0.9648 (96.48%) </a:t>
            </a:r>
            <a:r>
              <a:rPr lang="en-US" sz="2800" dirty="0"/>
              <a:t>→ </a:t>
            </a:r>
            <a:r>
              <a:rPr lang="en-US" sz="2800" b="1" dirty="0"/>
              <a:t>combined metric</a:t>
            </a:r>
            <a:r>
              <a:rPr lang="en-US" sz="2800" dirty="0"/>
              <a:t> of Precision and Recall</a:t>
            </a:r>
            <a:endParaRPr lang="en-IN" sz="2800" dirty="0"/>
          </a:p>
        </p:txBody>
      </p:sp>
    </p:spTree>
    <p:extLst>
      <p:ext uri="{BB962C8B-B14F-4D97-AF65-F5344CB8AC3E}">
        <p14:creationId xmlns:p14="http://schemas.microsoft.com/office/powerpoint/2010/main" val="3520533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A777B-8E20-CAC4-ED90-33A01BC19D56}"/>
              </a:ext>
            </a:extLst>
          </p:cNvPr>
          <p:cNvSpPr>
            <a:spLocks noGrp="1"/>
          </p:cNvSpPr>
          <p:nvPr>
            <p:ph type="ctrTitle"/>
          </p:nvPr>
        </p:nvSpPr>
        <p:spPr>
          <a:xfrm>
            <a:off x="1371600" y="1803404"/>
            <a:ext cx="9448800" cy="1923643"/>
          </a:xfrm>
        </p:spPr>
        <p:txBody>
          <a:bodyPr/>
          <a:lstStyle/>
          <a:p>
            <a:pPr algn="ctr"/>
            <a:r>
              <a:rPr lang="en-IN" dirty="0"/>
              <a:t>  </a:t>
            </a:r>
            <a:r>
              <a:rPr lang="en-IN" sz="8000" dirty="0"/>
              <a:t>THANK YOU</a:t>
            </a:r>
          </a:p>
        </p:txBody>
      </p:sp>
      <p:sp>
        <p:nvSpPr>
          <p:cNvPr id="3" name="Subtitle 2">
            <a:extLst>
              <a:ext uri="{FF2B5EF4-FFF2-40B4-BE49-F238E27FC236}">
                <a16:creationId xmlns:a16="http://schemas.microsoft.com/office/drawing/2014/main" id="{83BF47DB-3121-A70F-E8F7-FCA2D1249F8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117858249"/>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docProps/app.xml><?xml version="1.0" encoding="utf-8"?>
<Properties xmlns="http://schemas.openxmlformats.org/officeDocument/2006/extended-properties" xmlns:vt="http://schemas.openxmlformats.org/officeDocument/2006/docPropsVTypes">
  <Template>TM04033937[[fn=Vapor Trail]]</Template>
  <TotalTime>2295</TotalTime>
  <Words>401</Words>
  <Application>Microsoft Office PowerPoint</Application>
  <PresentationFormat>Widescreen</PresentationFormat>
  <Paragraphs>28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Garamond</vt:lpstr>
      <vt:lpstr>Trebuchet MS</vt:lpstr>
      <vt:lpstr>Vapor Trail</vt:lpstr>
      <vt:lpstr>Real time face  mask detection        - dr. ranjeet kumar ranjan</vt:lpstr>
      <vt:lpstr>about</vt:lpstr>
      <vt:lpstr>objectives</vt:lpstr>
      <vt:lpstr>Model architecture</vt:lpstr>
      <vt:lpstr>PowerPoint Presentation</vt:lpstr>
      <vt:lpstr>Dataset</vt:lpstr>
      <vt:lpstr>PowerPoint Presentation</vt:lpstr>
      <vt:lpstr>PowerPoint Presentation</vt:lpstr>
      <vt:lpstr>Loss and Accuracy over Epochs</vt:lpstr>
      <vt:lpstr>Performance metrics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Sangeeth</dc:creator>
  <cp:lastModifiedBy>Sai Sangeeth</cp:lastModifiedBy>
  <cp:revision>5</cp:revision>
  <dcterms:created xsi:type="dcterms:W3CDTF">2025-08-05T05:36:40Z</dcterms:created>
  <dcterms:modified xsi:type="dcterms:W3CDTF">2025-08-07T05:10:02Z</dcterms:modified>
</cp:coreProperties>
</file>